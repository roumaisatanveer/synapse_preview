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1371600"/>
            <a:ext cx="4114800" cy="4114800"/>
          </a:xfrm>
          <a:prstGeom prst="ellipse">
            <a:avLst/>
          </a:prstGeom>
          <a:solidFill>
            <a:srgbClr val="2A0D55">
              <a:alpha val="12000"/>
            </a:srgbClr>
          </a:solidFill>
          <a:ln w="12700">
            <a:solidFill>
              <a:srgbClr val="2222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625883" y="194310"/>
            <a:ext cx="2243797" cy="4754880"/>
          </a:xfrm>
          <a:prstGeom prst="roundRect">
            <a:avLst>
              <a:gd name="adj" fmla="val 2853"/>
            </a:avLst>
          </a:prstGeom>
          <a:solidFill>
            <a:srgbClr val="18181F"/>
          </a:solidFill>
          <a:ln w="8890">
            <a:solidFill>
              <a:srgbClr val="B47AFF">
                <a:alpha val="45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1603" y="240030"/>
            <a:ext cx="2152357" cy="46634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11480" y="457200"/>
            <a:ext cx="6122963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spc="800" kern="0" dirty="0">
                <a:solidFill>
                  <a:srgbClr val="E8E6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 Y N A P S E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411480" y="1481328"/>
            <a:ext cx="6122963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B47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Minds, Build Teams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411480" y="1920240"/>
            <a:ext cx="6122963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"Good ideas fail because of bad teams."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11480" y="2377440"/>
            <a:ext cx="1645920" cy="22860"/>
          </a:xfrm>
          <a:prstGeom prst="rect">
            <a:avLst/>
          </a:prstGeom>
          <a:solidFill>
            <a:srgbClr val="B47AFF"/>
          </a:solidFill>
          <a:ln w="12700">
            <a:solidFill>
              <a:srgbClr val="B47A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11480" y="2523744"/>
            <a:ext cx="6122963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Academic Team &amp; Mentor Matching Platform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11480" y="3017520"/>
            <a:ext cx="6122963" cy="1874520"/>
          </a:xfrm>
          <a:prstGeom prst="rect">
            <a:avLst/>
          </a:prstGeom>
          <a:solidFill>
            <a:srgbClr val="111116"/>
          </a:solidFill>
          <a:ln w="6350">
            <a:solidFill>
              <a:srgbClr val="22222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11480" y="3017520"/>
            <a:ext cx="36576" cy="1874520"/>
          </a:xfrm>
          <a:prstGeom prst="rect">
            <a:avLst/>
          </a:prstGeom>
          <a:solidFill>
            <a:srgbClr val="B47AFF"/>
          </a:solidFill>
          <a:ln w="12700">
            <a:solidFill>
              <a:srgbClr val="B47A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12648" y="3200400"/>
            <a:ext cx="5848643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6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Khadija Subhani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612648" y="3493008"/>
            <a:ext cx="5848643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BITF22M019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612648" y="3794760"/>
            <a:ext cx="5848643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6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Roumaisa Tanveer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612648" y="4087368"/>
            <a:ext cx="5848643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BITF22M033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612648" y="4645152"/>
            <a:ext cx="5848643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Year Project  ·  BSIT  ·  PUCIT  ·  2026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50" kern="0" dirty="0">
                <a:solidFill>
                  <a:srgbClr val="B47A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45720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6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Do Good Academic Teams Fail?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115568"/>
            <a:ext cx="8321040" cy="16459"/>
          </a:xfrm>
          <a:prstGeom prst="rect">
            <a:avLst/>
          </a:prstGeom>
          <a:solidFill>
            <a:srgbClr val="222228"/>
          </a:solidFill>
          <a:ln w="12700">
            <a:solidFill>
              <a:srgbClr val="22222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207008"/>
            <a:ext cx="8321040" cy="658368"/>
          </a:xfrm>
          <a:prstGeom prst="rect">
            <a:avLst/>
          </a:prstGeom>
          <a:solidFill>
            <a:srgbClr val="1A0D30"/>
          </a:solidFill>
          <a:ln w="8890">
            <a:solidFill>
              <a:srgbClr val="B47AFF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07008"/>
            <a:ext cx="36576" cy="658368"/>
          </a:xfrm>
          <a:prstGeom prst="rect">
            <a:avLst/>
          </a:prstGeom>
          <a:solidFill>
            <a:srgbClr val="B47AFF"/>
          </a:solidFill>
          <a:ln w="12700">
            <a:solidFill>
              <a:srgbClr val="B47A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316736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E8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"Good ideas fail because of bad teams — not bad ideas."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2011680"/>
            <a:ext cx="2724912" cy="2880360"/>
          </a:xfrm>
          <a:prstGeom prst="rect">
            <a:avLst/>
          </a:prstGeom>
          <a:solidFill>
            <a:srgbClr val="111116"/>
          </a:solidFill>
          <a:ln w="8890">
            <a:solidFill>
              <a:srgbClr val="B47AFF">
                <a:alpha val="7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2011680"/>
            <a:ext cx="2724912" cy="36576"/>
          </a:xfrm>
          <a:prstGeom prst="rect">
            <a:avLst/>
          </a:prstGeom>
          <a:solidFill>
            <a:srgbClr val="B47AFF"/>
          </a:solidFill>
          <a:ln w="12700">
            <a:solidFill>
              <a:srgbClr val="B47A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03120"/>
            <a:ext cx="24505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6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Random Teaming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2414016"/>
            <a:ext cx="2450592" cy="2368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are grouped arbitrarily — no skill mapping, no personality fit, no compatibility signal. Conflict and free-riding follow.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172968" y="2011680"/>
            <a:ext cx="2724912" cy="2880360"/>
          </a:xfrm>
          <a:prstGeom prst="rect">
            <a:avLst/>
          </a:prstGeom>
          <a:solidFill>
            <a:srgbClr val="111116"/>
          </a:solidFill>
          <a:ln w="8890">
            <a:solidFill>
              <a:srgbClr val="6FE3E1">
                <a:alpha val="7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72968" y="2011680"/>
            <a:ext cx="2724912" cy="36576"/>
          </a:xfrm>
          <a:prstGeom prst="rect">
            <a:avLst/>
          </a:prstGeom>
          <a:solidFill>
            <a:srgbClr val="6FE3E1"/>
          </a:solidFill>
          <a:ln w="12700">
            <a:solidFill>
              <a:srgbClr val="6FE3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10128" y="2103120"/>
            <a:ext cx="24505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6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Mentor Discovery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10128" y="2414016"/>
            <a:ext cx="2450592" cy="2368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the right mentor is entirely luck-based. No structured channel exists to match topic expertise with actual student need.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25896" y="2011680"/>
            <a:ext cx="2724912" cy="2880360"/>
          </a:xfrm>
          <a:prstGeom prst="rect">
            <a:avLst/>
          </a:prstGeom>
          <a:solidFill>
            <a:srgbClr val="111116"/>
          </a:solidFill>
          <a:ln w="8890">
            <a:solidFill>
              <a:srgbClr val="F6C74A">
                <a:alpha val="7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25896" y="2011680"/>
            <a:ext cx="2724912" cy="36576"/>
          </a:xfrm>
          <a:prstGeom prst="rect">
            <a:avLst/>
          </a:prstGeom>
          <a:solidFill>
            <a:srgbClr val="F6C74A"/>
          </a:solidFill>
          <a:ln w="12700">
            <a:solidFill>
              <a:srgbClr val="F6C7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63056" y="2103120"/>
            <a:ext cx="24505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6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Zero Team Visibility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63056" y="2414016"/>
            <a:ext cx="2450592" cy="2368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formed, teams operate in the dark. No health tracking, workload insight, or early-warning signals for teams that are struggling.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50" kern="0" dirty="0">
                <a:solidFill>
                  <a:srgbClr val="B47A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SOLUTION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45720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E6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Synapse — Intelligence-First Collaboration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1115568"/>
            <a:ext cx="8321040" cy="16459"/>
          </a:xfrm>
          <a:prstGeom prst="rect">
            <a:avLst/>
          </a:prstGeom>
          <a:solidFill>
            <a:srgbClr val="222228"/>
          </a:solidFill>
          <a:ln w="12700">
            <a:solidFill>
              <a:srgbClr val="2222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170432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full-stack mobile platform replacing random grouping with AI team formation, skill-aware mentor matching, and real-time collaboration tools.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20040" y="1627632"/>
            <a:ext cx="2724912" cy="1536192"/>
          </a:xfrm>
          <a:prstGeom prst="rect">
            <a:avLst/>
          </a:prstGeom>
          <a:solidFill>
            <a:srgbClr val="111116"/>
          </a:solidFill>
          <a:ln w="5080">
            <a:solidFill>
              <a:srgbClr val="2222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737360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7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Cosine Similarity Matching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2468880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6B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vectors compared across candidates — top compatible profiles surfaced automatically with ranked scores.</a:t>
            </a:r>
            <a:endParaRPr lang="en-US" sz="980" dirty="0"/>
          </a:p>
        </p:txBody>
      </p:sp>
      <p:sp>
        <p:nvSpPr>
          <p:cNvPr id="9" name="Shape 7"/>
          <p:cNvSpPr/>
          <p:nvPr/>
        </p:nvSpPr>
        <p:spPr>
          <a:xfrm>
            <a:off x="3172968" y="1627632"/>
            <a:ext cx="2724912" cy="1536192"/>
          </a:xfrm>
          <a:prstGeom prst="rect">
            <a:avLst/>
          </a:prstGeom>
          <a:solidFill>
            <a:srgbClr val="111116"/>
          </a:solidFill>
          <a:ln w="5080">
            <a:solidFill>
              <a:srgbClr val="22222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10128" y="1737360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7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Big Five + DISC Personality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10128" y="2103120"/>
            <a:ext cx="2468880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6B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OCEAN psychometric quiz at onboarding powers personality-aware compatibility. DISC type adds behavioural overlay.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6025896" y="1627632"/>
            <a:ext cx="2724912" cy="1536192"/>
          </a:xfrm>
          <a:prstGeom prst="rect">
            <a:avLst/>
          </a:prstGeom>
          <a:solidFill>
            <a:srgbClr val="111116"/>
          </a:solidFill>
          <a:ln w="5080">
            <a:solidFill>
              <a:srgbClr val="22222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63056" y="1737360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7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 Proximity Radar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163056" y="2103120"/>
            <a:ext cx="2468880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6B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detection of nearby compatible students. BLE/GPS-gated — shows skill tags and match % of users in range.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320040" y="3273552"/>
            <a:ext cx="2724912" cy="1536192"/>
          </a:xfrm>
          <a:prstGeom prst="rect">
            <a:avLst/>
          </a:prstGeom>
          <a:solidFill>
            <a:srgbClr val="111116"/>
          </a:solidFill>
          <a:ln w="5080">
            <a:solidFill>
              <a:srgbClr val="2222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383280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7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AI Mentor Connect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3749040"/>
            <a:ext cx="2468880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6B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your challenge; Synapse NLP routes you to the best-fit domain expert. Volunteer mode lets mentors offer proactively.</a:t>
            </a:r>
            <a:endParaRPr lang="en-US" sz="980" dirty="0"/>
          </a:p>
        </p:txBody>
      </p:sp>
      <p:sp>
        <p:nvSpPr>
          <p:cNvPr id="18" name="Shape 16"/>
          <p:cNvSpPr/>
          <p:nvPr/>
        </p:nvSpPr>
        <p:spPr>
          <a:xfrm>
            <a:off x="3172968" y="3273552"/>
            <a:ext cx="2724912" cy="1536192"/>
          </a:xfrm>
          <a:prstGeom prst="rect">
            <a:avLst/>
          </a:prstGeom>
          <a:solidFill>
            <a:srgbClr val="111116"/>
          </a:solidFill>
          <a:ln w="5080">
            <a:solidFill>
              <a:srgbClr val="22222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10128" y="3383280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7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SHAP Explainability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10128" y="3749040"/>
            <a:ext cx="2468880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6B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match has a 'Why?' card — which skills, traits, and signals drove the score. Full transparency, no black-box.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6025896" y="3273552"/>
            <a:ext cx="2724912" cy="1536192"/>
          </a:xfrm>
          <a:prstGeom prst="rect">
            <a:avLst/>
          </a:prstGeom>
          <a:solidFill>
            <a:srgbClr val="111116"/>
          </a:solidFill>
          <a:ln w="5080">
            <a:solidFill>
              <a:srgbClr val="22222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63056" y="3383280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7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MMR Diversity Engine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163056" y="3749040"/>
            <a:ext cx="2468880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6B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Maximal Marginal Relevance re-ranks suggestions each session — prevents echo-chamber repetition of the same profiles.</a:t>
            </a:r>
            <a:endParaRPr lang="en-US" sz="9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50" kern="0" dirty="0">
                <a:solidFill>
                  <a:srgbClr val="B47A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ONBOARDING FLOW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45720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E6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Personality Science at Entry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1115568"/>
            <a:ext cx="8321040" cy="16459"/>
          </a:xfrm>
          <a:prstGeom prst="rect">
            <a:avLst/>
          </a:prstGeom>
          <a:solidFill>
            <a:srgbClr val="222228"/>
          </a:solidFill>
          <a:ln w="12700">
            <a:solidFill>
              <a:srgbClr val="22222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188720"/>
            <a:ext cx="1779563" cy="3749040"/>
          </a:xfrm>
          <a:prstGeom prst="roundRect">
            <a:avLst>
              <a:gd name="adj" fmla="val 3597"/>
            </a:avLst>
          </a:prstGeom>
          <a:solidFill>
            <a:srgbClr val="18181F"/>
          </a:solidFill>
          <a:ln w="8890">
            <a:solidFill>
              <a:srgbClr val="B47AFF">
                <a:alpha val="45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234440"/>
            <a:ext cx="1688123" cy="3657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19643" y="1261872"/>
            <a:ext cx="6404317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6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Big Five (OCEAN) Assessment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2419643" y="1609344"/>
            <a:ext cx="6404317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of 3: users complete OCEAN psychometric quiz, then DISC, then set availability. Scores permanently power all compatibility matching.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419643" y="2249424"/>
            <a:ext cx="6404317" cy="292608"/>
          </a:xfrm>
          <a:prstGeom prst="rect">
            <a:avLst/>
          </a:prstGeom>
          <a:solidFill>
            <a:srgbClr val="141418"/>
          </a:solidFill>
          <a:ln w="3810">
            <a:solidFill>
              <a:srgbClr val="22222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419643" y="2249424"/>
            <a:ext cx="2433640" cy="292608"/>
          </a:xfrm>
          <a:prstGeom prst="rect">
            <a:avLst/>
          </a:prstGeom>
          <a:solidFill>
            <a:srgbClr val="6FE3E1">
              <a:alpha val="45000"/>
            </a:srgbClr>
          </a:solidFill>
          <a:ln w="12700">
            <a:solidFill>
              <a:srgbClr val="6FE3E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511083" y="2304288"/>
            <a:ext cx="5855677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Openness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8348472" y="2304288"/>
            <a:ext cx="3840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E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38%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2419643" y="2642616"/>
            <a:ext cx="6404317" cy="292608"/>
          </a:xfrm>
          <a:prstGeom prst="rect">
            <a:avLst/>
          </a:prstGeom>
          <a:solidFill>
            <a:srgbClr val="141418"/>
          </a:solidFill>
          <a:ln w="3810">
            <a:solidFill>
              <a:srgbClr val="22222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419643" y="2642616"/>
            <a:ext cx="3202158" cy="292608"/>
          </a:xfrm>
          <a:prstGeom prst="rect">
            <a:avLst/>
          </a:prstGeom>
          <a:solidFill>
            <a:srgbClr val="B47AFF">
              <a:alpha val="45000"/>
            </a:srgbClr>
          </a:solidFill>
          <a:ln w="12700">
            <a:solidFill>
              <a:srgbClr val="B47A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511083" y="2697480"/>
            <a:ext cx="5855677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Conscientiousness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8348472" y="2697480"/>
            <a:ext cx="3840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47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2419643" y="3035808"/>
            <a:ext cx="6404317" cy="292608"/>
          </a:xfrm>
          <a:prstGeom prst="rect">
            <a:avLst/>
          </a:prstGeom>
          <a:solidFill>
            <a:srgbClr val="141418"/>
          </a:solidFill>
          <a:ln w="3810">
            <a:solidFill>
              <a:srgbClr val="22222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419643" y="3035808"/>
            <a:ext cx="4034720" cy="292608"/>
          </a:xfrm>
          <a:prstGeom prst="rect">
            <a:avLst/>
          </a:prstGeom>
          <a:solidFill>
            <a:srgbClr val="F6C74A">
              <a:alpha val="45000"/>
            </a:srgbClr>
          </a:solidFill>
          <a:ln w="12700">
            <a:solidFill>
              <a:srgbClr val="F6C74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511083" y="3090672"/>
            <a:ext cx="5855677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Extraversion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8348472" y="3090672"/>
            <a:ext cx="3840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6C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63%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2419643" y="3429000"/>
            <a:ext cx="6404317" cy="292608"/>
          </a:xfrm>
          <a:prstGeom prst="rect">
            <a:avLst/>
          </a:prstGeom>
          <a:solidFill>
            <a:srgbClr val="141418"/>
          </a:solidFill>
          <a:ln w="3810">
            <a:solidFill>
              <a:srgbClr val="222228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2419643" y="3429000"/>
            <a:ext cx="4034720" cy="292608"/>
          </a:xfrm>
          <a:prstGeom prst="rect">
            <a:avLst/>
          </a:prstGeom>
          <a:solidFill>
            <a:srgbClr val="6FE3E1">
              <a:alpha val="45000"/>
            </a:srgbClr>
          </a:solidFill>
          <a:ln w="12700">
            <a:solidFill>
              <a:srgbClr val="6FE3E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511083" y="3483864"/>
            <a:ext cx="5855677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Agreeableness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8348472" y="3483864"/>
            <a:ext cx="3840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E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63%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2419643" y="3822192"/>
            <a:ext cx="6404317" cy="292608"/>
          </a:xfrm>
          <a:prstGeom prst="rect">
            <a:avLst/>
          </a:prstGeom>
          <a:solidFill>
            <a:srgbClr val="141418"/>
          </a:solidFill>
          <a:ln w="3810">
            <a:solidFill>
              <a:srgbClr val="222228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2419643" y="3822192"/>
            <a:ext cx="4034720" cy="292608"/>
          </a:xfrm>
          <a:prstGeom prst="rect">
            <a:avLst/>
          </a:prstGeom>
          <a:solidFill>
            <a:srgbClr val="EF4444">
              <a:alpha val="4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2511083" y="3877056"/>
            <a:ext cx="5855677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Neuroticism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8348472" y="3877056"/>
            <a:ext cx="3840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63%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2419643" y="4279392"/>
            <a:ext cx="6404317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DISC behaviour type (D/I/S/C) assessed in Step 2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B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Retake locked for 30 days — ensures authentic scores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B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Both models feed every future compatibility match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50" kern="0" dirty="0">
                <a:solidFill>
                  <a:srgbClr val="B47A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DASHBOARD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45720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E6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Home — Your Collaboration Hub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1115568"/>
            <a:ext cx="8321040" cy="16459"/>
          </a:xfrm>
          <a:prstGeom prst="rect">
            <a:avLst/>
          </a:prstGeom>
          <a:solidFill>
            <a:srgbClr val="222228"/>
          </a:solidFill>
          <a:ln w="12700">
            <a:solidFill>
              <a:srgbClr val="22222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090117" y="1188720"/>
            <a:ext cx="1779563" cy="3749040"/>
          </a:xfrm>
          <a:prstGeom prst="roundRect">
            <a:avLst>
              <a:gd name="adj" fmla="val 3597"/>
            </a:avLst>
          </a:prstGeom>
          <a:solidFill>
            <a:srgbClr val="18181F"/>
          </a:solidFill>
          <a:ln w="8890">
            <a:solidFill>
              <a:srgbClr val="B47AFF">
                <a:alpha val="45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5837" y="1234440"/>
            <a:ext cx="1688123" cy="36576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1234440"/>
            <a:ext cx="6495757" cy="850392"/>
          </a:xfrm>
          <a:prstGeom prst="rect">
            <a:avLst/>
          </a:prstGeom>
          <a:solidFill>
            <a:srgbClr val="111116"/>
          </a:solidFill>
          <a:ln w="5080">
            <a:solidFill>
              <a:srgbClr val="22222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1325880"/>
            <a:ext cx="631287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 Looking / Not Looking Toggle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1618488"/>
            <a:ext cx="6312877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6B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status visible to the whole network. Flipping on instantly makes you discoverable to AI suggestions.</a:t>
            </a:r>
            <a:endParaRPr lang="en-US" sz="980" dirty="0"/>
          </a:p>
        </p:txBody>
      </p:sp>
      <p:sp>
        <p:nvSpPr>
          <p:cNvPr id="10" name="Shape 7"/>
          <p:cNvSpPr/>
          <p:nvPr/>
        </p:nvSpPr>
        <p:spPr>
          <a:xfrm>
            <a:off x="320040" y="2176272"/>
            <a:ext cx="6495757" cy="850392"/>
          </a:xfrm>
          <a:prstGeom prst="rect">
            <a:avLst/>
          </a:prstGeom>
          <a:solidFill>
            <a:srgbClr val="111116"/>
          </a:solidFill>
          <a:ln w="5080">
            <a:solidFill>
              <a:srgbClr val="22222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2267712"/>
            <a:ext cx="631287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Active Teams Panel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57200" y="2560320"/>
            <a:ext cx="6312877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6B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your projects with member count, progress bar, and health status summarised at a glance.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320040" y="3118104"/>
            <a:ext cx="6495757" cy="850392"/>
          </a:xfrm>
          <a:prstGeom prst="rect">
            <a:avLst/>
          </a:prstGeom>
          <a:solidFill>
            <a:srgbClr val="111116"/>
          </a:solidFill>
          <a:ln w="5080">
            <a:solidFill>
              <a:srgbClr val="22222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7200" y="3209544"/>
            <a:ext cx="631287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 AI Matches — Top 3 shown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57200" y="3502152"/>
            <a:ext cx="6312877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6B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79%, 74%, 72% — ranked by composite compatibility. One-tap Connect fires a connection request.</a:t>
            </a:r>
            <a:endParaRPr lang="en-US" sz="980" dirty="0"/>
          </a:p>
        </p:txBody>
      </p:sp>
      <p:sp>
        <p:nvSpPr>
          <p:cNvPr id="16" name="Shape 13"/>
          <p:cNvSpPr/>
          <p:nvPr/>
        </p:nvSpPr>
        <p:spPr>
          <a:xfrm>
            <a:off x="320040" y="4059936"/>
            <a:ext cx="6495757" cy="850392"/>
          </a:xfrm>
          <a:prstGeom prst="rect">
            <a:avLst/>
          </a:prstGeom>
          <a:solidFill>
            <a:srgbClr val="111116"/>
          </a:solidFill>
          <a:ln w="5080">
            <a:solidFill>
              <a:srgbClr val="22222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7200" y="4151376"/>
            <a:ext cx="631287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Health Score + Velocity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57200" y="4443984"/>
            <a:ext cx="6312877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6B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health 61/100 · 2.0 tasks/day · -66.7% trend flag proactively surfaces at-risk teams.</a:t>
            </a:r>
            <a:endParaRPr lang="en-US" sz="9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50" kern="0" dirty="0">
                <a:solidFill>
                  <a:srgbClr val="B47A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MATCHING ENGINE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45720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E6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 Suggestions + Proximity Radar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1115568"/>
            <a:ext cx="8321040" cy="16459"/>
          </a:xfrm>
          <a:prstGeom prst="rect">
            <a:avLst/>
          </a:prstGeom>
          <a:solidFill>
            <a:srgbClr val="222228"/>
          </a:solidFill>
          <a:ln w="12700">
            <a:solidFill>
              <a:srgbClr val="22222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1161288"/>
            <a:ext cx="1779563" cy="3749040"/>
          </a:xfrm>
          <a:prstGeom prst="roundRect">
            <a:avLst>
              <a:gd name="adj" fmla="val 3597"/>
            </a:avLst>
          </a:prstGeom>
          <a:solidFill>
            <a:srgbClr val="18181F"/>
          </a:solidFill>
          <a:ln w="8890">
            <a:solidFill>
              <a:srgbClr val="B47AFF">
                <a:alpha val="45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207008"/>
            <a:ext cx="1688123" cy="36576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117891" y="1161288"/>
            <a:ext cx="1779563" cy="3749040"/>
          </a:xfrm>
          <a:prstGeom prst="roundRect">
            <a:avLst>
              <a:gd name="adj" fmla="val 3597"/>
            </a:avLst>
          </a:prstGeom>
          <a:solidFill>
            <a:srgbClr val="18181F"/>
          </a:solidFill>
          <a:ln w="8890">
            <a:solidFill>
              <a:srgbClr val="B47AFF">
                <a:alpha val="45000"/>
              </a:srgbClr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3611" y="1207008"/>
            <a:ext cx="1688123" cy="36576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4263214" y="1234440"/>
            <a:ext cx="4606466" cy="850392"/>
          </a:xfrm>
          <a:prstGeom prst="rect">
            <a:avLst/>
          </a:prstGeom>
          <a:solidFill>
            <a:srgbClr val="111116"/>
          </a:solidFill>
          <a:ln w="8890">
            <a:solidFill>
              <a:srgbClr val="B47AFF">
                <a:alpha val="70000"/>
              </a:srgbClr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263214" y="1234440"/>
            <a:ext cx="36576" cy="850392"/>
          </a:xfrm>
          <a:prstGeom prst="rect">
            <a:avLst/>
          </a:prstGeom>
          <a:solidFill>
            <a:srgbClr val="B47AFF"/>
          </a:solidFill>
          <a:ln w="12700">
            <a:solidFill>
              <a:srgbClr val="B47AFF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427806" y="1325880"/>
            <a:ext cx="435043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47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Matches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4427806" y="1618488"/>
            <a:ext cx="4350434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6B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"Why?" on any suggestion — Synapse narrates complementary skills, personality overlap, and conflict risk flags (e.g. dual-D DISC).</a:t>
            </a:r>
            <a:endParaRPr lang="en-US" sz="930" dirty="0"/>
          </a:p>
        </p:txBody>
      </p:sp>
      <p:sp>
        <p:nvSpPr>
          <p:cNvPr id="13" name="Shape 9"/>
          <p:cNvSpPr/>
          <p:nvPr/>
        </p:nvSpPr>
        <p:spPr>
          <a:xfrm>
            <a:off x="4263214" y="2176272"/>
            <a:ext cx="4606466" cy="850392"/>
          </a:xfrm>
          <a:prstGeom prst="rect">
            <a:avLst/>
          </a:prstGeom>
          <a:solidFill>
            <a:srgbClr val="111116"/>
          </a:solidFill>
          <a:ln w="5080">
            <a:solidFill>
              <a:srgbClr val="222228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391230" y="2267712"/>
            <a:ext cx="435043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Filters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4391230" y="2560320"/>
            <a:ext cx="4350434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6B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/ Creative / Routine tabs shift match weighting. Top 10 dropdown caps result density for clarity.</a:t>
            </a:r>
            <a:endParaRPr lang="en-US" sz="930" dirty="0"/>
          </a:p>
        </p:txBody>
      </p:sp>
      <p:sp>
        <p:nvSpPr>
          <p:cNvPr id="16" name="Shape 12"/>
          <p:cNvSpPr/>
          <p:nvPr/>
        </p:nvSpPr>
        <p:spPr>
          <a:xfrm>
            <a:off x="4263214" y="3118104"/>
            <a:ext cx="4606466" cy="850392"/>
          </a:xfrm>
          <a:prstGeom prst="rect">
            <a:avLst/>
          </a:prstGeom>
          <a:solidFill>
            <a:srgbClr val="111116"/>
          </a:solidFill>
          <a:ln w="8890">
            <a:solidFill>
              <a:srgbClr val="6FE3E1">
                <a:alpha val="70000"/>
              </a:srgbClr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263214" y="3118104"/>
            <a:ext cx="36576" cy="850392"/>
          </a:xfrm>
          <a:prstGeom prst="rect">
            <a:avLst/>
          </a:prstGeom>
          <a:solidFill>
            <a:srgbClr val="6FE3E1"/>
          </a:solidFill>
          <a:ln w="12700">
            <a:solidFill>
              <a:srgbClr val="6FE3E1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427806" y="3209544"/>
            <a:ext cx="435043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FE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Proximity Radar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4427806" y="3502152"/>
            <a:ext cx="4350434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6B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"Someone compatible is within your radius" — real-time detection shows nearby users by skill tags and match %. 4 active in range.</a:t>
            </a:r>
            <a:endParaRPr lang="en-US" sz="930" dirty="0"/>
          </a:p>
        </p:txBody>
      </p:sp>
      <p:sp>
        <p:nvSpPr>
          <p:cNvPr id="20" name="Shape 16"/>
          <p:cNvSpPr/>
          <p:nvPr/>
        </p:nvSpPr>
        <p:spPr>
          <a:xfrm>
            <a:off x="4263214" y="4059936"/>
            <a:ext cx="4606466" cy="850392"/>
          </a:xfrm>
          <a:prstGeom prst="rect">
            <a:avLst/>
          </a:prstGeom>
          <a:solidFill>
            <a:srgbClr val="111116"/>
          </a:solidFill>
          <a:ln w="5080">
            <a:solidFill>
              <a:srgbClr val="222228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391230" y="4151376"/>
            <a:ext cx="435043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MMR Diversity Engine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4391230" y="4443984"/>
            <a:ext cx="4350434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6B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Maximal Marginal Relevance re-ranks each session — you never see the same pool twice. Fresh signal every time.</a:t>
            </a:r>
            <a:endParaRPr lang="en-US" sz="93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50" kern="0" dirty="0">
                <a:solidFill>
                  <a:srgbClr val="B47A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AI-POWERED CORE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45720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E6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Team Formation — Configure → Results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1115568"/>
            <a:ext cx="8321040" cy="16459"/>
          </a:xfrm>
          <a:prstGeom prst="rect">
            <a:avLst/>
          </a:prstGeom>
          <a:solidFill>
            <a:srgbClr val="222228"/>
          </a:solidFill>
          <a:ln w="12700">
            <a:solidFill>
              <a:srgbClr val="22222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1161288"/>
            <a:ext cx="1779563" cy="3749040"/>
          </a:xfrm>
          <a:prstGeom prst="roundRect">
            <a:avLst>
              <a:gd name="adj" fmla="val 3597"/>
            </a:avLst>
          </a:prstGeom>
          <a:solidFill>
            <a:srgbClr val="18181F"/>
          </a:solidFill>
          <a:ln w="8890">
            <a:solidFill>
              <a:srgbClr val="B47AFF">
                <a:alpha val="45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207008"/>
            <a:ext cx="1688123" cy="36576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099603" y="1161288"/>
            <a:ext cx="1779563" cy="3749040"/>
          </a:xfrm>
          <a:prstGeom prst="roundRect">
            <a:avLst>
              <a:gd name="adj" fmla="val 3597"/>
            </a:avLst>
          </a:prstGeom>
          <a:solidFill>
            <a:srgbClr val="18181F"/>
          </a:solidFill>
          <a:ln w="8890">
            <a:solidFill>
              <a:srgbClr val="B47AFF">
                <a:alpha val="45000"/>
              </a:srgbClr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5323" y="1207008"/>
            <a:ext cx="1688123" cy="36576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4244926" y="1234440"/>
            <a:ext cx="2275801" cy="713232"/>
          </a:xfrm>
          <a:prstGeom prst="rect">
            <a:avLst/>
          </a:prstGeom>
          <a:solidFill>
            <a:srgbClr val="111116"/>
          </a:solidFill>
          <a:ln w="8890">
            <a:solidFill>
              <a:srgbClr val="B47AFF">
                <a:alpha val="75000"/>
              </a:srgbClr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244926" y="1280160"/>
            <a:ext cx="2275801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47A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100%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4244926" y="1655064"/>
            <a:ext cx="2275801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Personality</a:t>
            </a:r>
            <a:endParaRPr lang="en-US" sz="850" dirty="0"/>
          </a:p>
        </p:txBody>
      </p:sp>
      <p:sp>
        <p:nvSpPr>
          <p:cNvPr id="12" name="Shape 8"/>
          <p:cNvSpPr/>
          <p:nvPr/>
        </p:nvSpPr>
        <p:spPr>
          <a:xfrm>
            <a:off x="6593879" y="1234440"/>
            <a:ext cx="2275801" cy="713232"/>
          </a:xfrm>
          <a:prstGeom prst="rect">
            <a:avLst/>
          </a:prstGeom>
          <a:solidFill>
            <a:srgbClr val="111116"/>
          </a:solidFill>
          <a:ln w="8890">
            <a:solidFill>
              <a:srgbClr val="F6C74A">
                <a:alpha val="75000"/>
              </a:srgbClr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593879" y="1280160"/>
            <a:ext cx="2275801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6C7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70%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6593879" y="1655064"/>
            <a:ext cx="2275801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Mood Score</a:t>
            </a:r>
            <a:endParaRPr lang="en-US" sz="850" dirty="0"/>
          </a:p>
        </p:txBody>
      </p:sp>
      <p:sp>
        <p:nvSpPr>
          <p:cNvPr id="15" name="Shape 11"/>
          <p:cNvSpPr/>
          <p:nvPr/>
        </p:nvSpPr>
        <p:spPr>
          <a:xfrm>
            <a:off x="4244926" y="2039112"/>
            <a:ext cx="2275801" cy="713232"/>
          </a:xfrm>
          <a:prstGeom prst="rect">
            <a:avLst/>
          </a:prstGeom>
          <a:solidFill>
            <a:srgbClr val="111116"/>
          </a:solidFill>
          <a:ln w="8890">
            <a:solidFill>
              <a:srgbClr val="6FE3E1">
                <a:alpha val="75000"/>
              </a:srgbClr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244926" y="2084832"/>
            <a:ext cx="2275801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6FE3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100%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4244926" y="2459736"/>
            <a:ext cx="2275801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Proximity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6593879" y="2039112"/>
            <a:ext cx="2275801" cy="713232"/>
          </a:xfrm>
          <a:prstGeom prst="rect">
            <a:avLst/>
          </a:prstGeom>
          <a:solidFill>
            <a:srgbClr val="111116"/>
          </a:solidFill>
          <a:ln w="8890">
            <a:solidFill>
              <a:srgbClr val="0EA5E9">
                <a:alpha val="75000"/>
              </a:srgbClr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593879" y="2084832"/>
            <a:ext cx="2275801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50% est.</a:t>
            </a:r>
            <a:endParaRPr lang="en-US" sz="1700" dirty="0"/>
          </a:p>
        </p:txBody>
      </p:sp>
      <p:sp>
        <p:nvSpPr>
          <p:cNvPr id="20" name="Text 16"/>
          <p:cNvSpPr/>
          <p:nvPr/>
        </p:nvSpPr>
        <p:spPr>
          <a:xfrm>
            <a:off x="6593879" y="2459736"/>
            <a:ext cx="2275801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Diversity</a:t>
            </a:r>
            <a:endParaRPr lang="en-US" sz="850" dirty="0"/>
          </a:p>
        </p:txBody>
      </p:sp>
      <p:sp>
        <p:nvSpPr>
          <p:cNvPr id="21" name="Shape 17"/>
          <p:cNvSpPr/>
          <p:nvPr/>
        </p:nvSpPr>
        <p:spPr>
          <a:xfrm>
            <a:off x="4244926" y="2843784"/>
            <a:ext cx="2275801" cy="713232"/>
          </a:xfrm>
          <a:prstGeom prst="rect">
            <a:avLst/>
          </a:prstGeom>
          <a:solidFill>
            <a:srgbClr val="111116"/>
          </a:solidFill>
          <a:ln w="8890">
            <a:solidFill>
              <a:srgbClr val="EF4444">
                <a:alpha val="75000"/>
              </a:srgbClr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4244926" y="2889504"/>
            <a:ext cx="2275801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58%</a:t>
            </a:r>
            <a:endParaRPr lang="en-US" sz="1700" dirty="0"/>
          </a:p>
        </p:txBody>
      </p:sp>
      <p:sp>
        <p:nvSpPr>
          <p:cNvPr id="23" name="Text 19"/>
          <p:cNvSpPr/>
          <p:nvPr/>
        </p:nvSpPr>
        <p:spPr>
          <a:xfrm>
            <a:off x="4244926" y="3264408"/>
            <a:ext cx="2275801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</a:t>
            </a:r>
            <a:endParaRPr lang="en-US" sz="850" dirty="0"/>
          </a:p>
        </p:txBody>
      </p:sp>
      <p:sp>
        <p:nvSpPr>
          <p:cNvPr id="24" name="Shape 20"/>
          <p:cNvSpPr/>
          <p:nvPr/>
        </p:nvSpPr>
        <p:spPr>
          <a:xfrm>
            <a:off x="4244926" y="2843784"/>
            <a:ext cx="4624754" cy="713232"/>
          </a:xfrm>
          <a:prstGeom prst="rect">
            <a:avLst/>
          </a:prstGeom>
          <a:solidFill>
            <a:srgbClr val="111116"/>
          </a:solidFill>
          <a:ln w="8890">
            <a:solidFill>
              <a:srgbClr val="EF4444">
                <a:alpha val="75000"/>
              </a:srgbClr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4244926" y="3639312"/>
            <a:ext cx="462475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6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4244926" y="3950208"/>
            <a:ext cx="462475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E8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Set required skills, duration, team size &amp; budget</a:t>
            </a:r>
            <a:endParaRPr lang="en-US" sz="920" dirty="0"/>
          </a:p>
        </p:txBody>
      </p:sp>
      <p:sp>
        <p:nvSpPr>
          <p:cNvPr id="27" name="Text 23"/>
          <p:cNvSpPr/>
          <p:nvPr/>
        </p:nvSpPr>
        <p:spPr>
          <a:xfrm>
            <a:off x="4244926" y="4169664"/>
            <a:ext cx="462475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6B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AI generates candidate teams via cosine similarity</a:t>
            </a:r>
            <a:endParaRPr lang="en-US" sz="920" dirty="0"/>
          </a:p>
        </p:txBody>
      </p:sp>
      <p:sp>
        <p:nvSpPr>
          <p:cNvPr id="28" name="Text 24"/>
          <p:cNvSpPr/>
          <p:nvPr/>
        </p:nvSpPr>
        <p:spPr>
          <a:xfrm>
            <a:off x="4244926" y="4389120"/>
            <a:ext cx="462475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E8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Personality + Mood + Proximity scored per team</a:t>
            </a:r>
            <a:endParaRPr lang="en-US" sz="920" dirty="0"/>
          </a:p>
        </p:txBody>
      </p:sp>
      <p:sp>
        <p:nvSpPr>
          <p:cNvPr id="29" name="Text 25"/>
          <p:cNvSpPr/>
          <p:nvPr/>
        </p:nvSpPr>
        <p:spPr>
          <a:xfrm>
            <a:off x="4244926" y="4608576"/>
            <a:ext cx="462475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6B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SHAP values explain every score transparently</a:t>
            </a:r>
            <a:endParaRPr lang="en-US" sz="920" dirty="0"/>
          </a:p>
        </p:txBody>
      </p:sp>
      <p:sp>
        <p:nvSpPr>
          <p:cNvPr id="30" name="Text 26"/>
          <p:cNvSpPr/>
          <p:nvPr/>
        </p:nvSpPr>
        <p:spPr>
          <a:xfrm>
            <a:off x="4244926" y="4828032"/>
            <a:ext cx="462475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E8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Select preferred team → Create with one tap</a:t>
            </a:r>
            <a:endParaRPr lang="en-US" sz="9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50" kern="0" dirty="0">
                <a:solidFill>
                  <a:srgbClr val="B47A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COLLABORATION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45720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E6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Mentor Connect + Real-Time Messaging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1115568"/>
            <a:ext cx="8321040" cy="16459"/>
          </a:xfrm>
          <a:prstGeom prst="rect">
            <a:avLst/>
          </a:prstGeom>
          <a:solidFill>
            <a:srgbClr val="222228"/>
          </a:solidFill>
          <a:ln w="12700">
            <a:solidFill>
              <a:srgbClr val="22222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1161288"/>
            <a:ext cx="1779563" cy="3749040"/>
          </a:xfrm>
          <a:prstGeom prst="roundRect">
            <a:avLst>
              <a:gd name="adj" fmla="val 3597"/>
            </a:avLst>
          </a:prstGeom>
          <a:solidFill>
            <a:srgbClr val="18181F"/>
          </a:solidFill>
          <a:ln w="8890">
            <a:solidFill>
              <a:srgbClr val="B47AFF">
                <a:alpha val="45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207008"/>
            <a:ext cx="1688123" cy="36576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099603" y="1161288"/>
            <a:ext cx="1779563" cy="3749040"/>
          </a:xfrm>
          <a:prstGeom prst="roundRect">
            <a:avLst>
              <a:gd name="adj" fmla="val 3597"/>
            </a:avLst>
          </a:prstGeom>
          <a:solidFill>
            <a:srgbClr val="18181F"/>
          </a:solidFill>
          <a:ln w="8890">
            <a:solidFill>
              <a:srgbClr val="B47AFF">
                <a:alpha val="45000"/>
              </a:srgbClr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5323" y="1207008"/>
            <a:ext cx="1688123" cy="36576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4244926" y="1234440"/>
            <a:ext cx="4624754" cy="850392"/>
          </a:xfrm>
          <a:prstGeom prst="rect">
            <a:avLst/>
          </a:prstGeom>
          <a:solidFill>
            <a:srgbClr val="111116"/>
          </a:solidFill>
          <a:ln w="8890">
            <a:solidFill>
              <a:srgbClr val="6FE3E1">
                <a:alpha val="70000"/>
              </a:srgbClr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244926" y="1234440"/>
            <a:ext cx="36576" cy="850392"/>
          </a:xfrm>
          <a:prstGeom prst="rect">
            <a:avLst/>
          </a:prstGeom>
          <a:solidFill>
            <a:srgbClr val="6FE3E1"/>
          </a:solidFill>
          <a:ln w="12700">
            <a:solidFill>
              <a:srgbClr val="6FE3E1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409518" y="1325880"/>
            <a:ext cx="436872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FE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Topic-Aware AI Analysis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4409518" y="1618488"/>
            <a:ext cx="4368722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6B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project topic + challenge description. Synapse NLP routes to best-fit mentor by domain expertise score.</a:t>
            </a:r>
            <a:endParaRPr lang="en-US" sz="930" dirty="0"/>
          </a:p>
        </p:txBody>
      </p:sp>
      <p:sp>
        <p:nvSpPr>
          <p:cNvPr id="13" name="Shape 9"/>
          <p:cNvSpPr/>
          <p:nvPr/>
        </p:nvSpPr>
        <p:spPr>
          <a:xfrm>
            <a:off x="4244926" y="2176272"/>
            <a:ext cx="4624754" cy="850392"/>
          </a:xfrm>
          <a:prstGeom prst="rect">
            <a:avLst/>
          </a:prstGeom>
          <a:solidFill>
            <a:srgbClr val="111116"/>
          </a:solidFill>
          <a:ln w="5080">
            <a:solidFill>
              <a:srgbClr val="222228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372942" y="2267712"/>
            <a:ext cx="436872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&amp; Accept Lifecycle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4372942" y="2560320"/>
            <a:ext cx="4368722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6B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connection flow — send, accept, decline. Shows match % and 7-day expiry. Accepted → chat opens automatically.</a:t>
            </a:r>
            <a:endParaRPr lang="en-US" sz="930" dirty="0"/>
          </a:p>
        </p:txBody>
      </p:sp>
      <p:sp>
        <p:nvSpPr>
          <p:cNvPr id="16" name="Shape 12"/>
          <p:cNvSpPr/>
          <p:nvPr/>
        </p:nvSpPr>
        <p:spPr>
          <a:xfrm>
            <a:off x="4244926" y="3118104"/>
            <a:ext cx="4624754" cy="850392"/>
          </a:xfrm>
          <a:prstGeom prst="rect">
            <a:avLst/>
          </a:prstGeom>
          <a:solidFill>
            <a:srgbClr val="111116"/>
          </a:solidFill>
          <a:ln w="8890">
            <a:solidFill>
              <a:srgbClr val="6FE3E1">
                <a:alpha val="70000"/>
              </a:srgbClr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244926" y="3118104"/>
            <a:ext cx="36576" cy="850392"/>
          </a:xfrm>
          <a:prstGeom prst="rect">
            <a:avLst/>
          </a:prstGeom>
          <a:solidFill>
            <a:srgbClr val="6FE3E1"/>
          </a:solidFill>
          <a:ln w="12700">
            <a:solidFill>
              <a:srgbClr val="6FE3E1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409518" y="3209544"/>
            <a:ext cx="436872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FE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Volunteer Mode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4409518" y="3502152"/>
            <a:ext cx="4368722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6B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Mentors switch to Volunteer tab to proactively offer help. Students set urgency (Standard / Critical).</a:t>
            </a:r>
            <a:endParaRPr lang="en-US" sz="930" dirty="0"/>
          </a:p>
        </p:txBody>
      </p:sp>
      <p:sp>
        <p:nvSpPr>
          <p:cNvPr id="20" name="Shape 16"/>
          <p:cNvSpPr/>
          <p:nvPr/>
        </p:nvSpPr>
        <p:spPr>
          <a:xfrm>
            <a:off x="4244926" y="4059936"/>
            <a:ext cx="4624754" cy="850392"/>
          </a:xfrm>
          <a:prstGeom prst="rect">
            <a:avLst/>
          </a:prstGeom>
          <a:solidFill>
            <a:srgbClr val="111116"/>
          </a:solidFill>
          <a:ln w="5080">
            <a:solidFill>
              <a:srgbClr val="222228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372942" y="4151376"/>
            <a:ext cx="436872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Chat — 4 Active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4372942" y="4443984"/>
            <a:ext cx="4368722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6B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messaging with presence tracking. AI check-in stubs surface blockers at key milestones.</a:t>
            </a:r>
            <a:endParaRPr lang="en-US" sz="93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50" kern="0" dirty="0">
                <a:solidFill>
                  <a:srgbClr val="B47A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PROFILE · TASKS · STACK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45720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E6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Full Lifecycle — Profile to Delivery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1115568"/>
            <a:ext cx="8321040" cy="16459"/>
          </a:xfrm>
          <a:prstGeom prst="rect">
            <a:avLst/>
          </a:prstGeom>
          <a:solidFill>
            <a:srgbClr val="222228"/>
          </a:solidFill>
          <a:ln w="12700">
            <a:solidFill>
              <a:srgbClr val="22222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1161288"/>
            <a:ext cx="1779563" cy="3749040"/>
          </a:xfrm>
          <a:prstGeom prst="roundRect">
            <a:avLst>
              <a:gd name="adj" fmla="val 3597"/>
            </a:avLst>
          </a:prstGeom>
          <a:solidFill>
            <a:srgbClr val="18181F"/>
          </a:solidFill>
          <a:ln w="8890">
            <a:solidFill>
              <a:srgbClr val="B47AFF">
                <a:alpha val="45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207008"/>
            <a:ext cx="1688123" cy="36576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099603" y="1161288"/>
            <a:ext cx="1779563" cy="3749040"/>
          </a:xfrm>
          <a:prstGeom prst="roundRect">
            <a:avLst>
              <a:gd name="adj" fmla="val 3597"/>
            </a:avLst>
          </a:prstGeom>
          <a:solidFill>
            <a:srgbClr val="18181F"/>
          </a:solidFill>
          <a:ln w="8890">
            <a:solidFill>
              <a:srgbClr val="B47AFF">
                <a:alpha val="45000"/>
              </a:srgbClr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5323" y="1207008"/>
            <a:ext cx="1688123" cy="3657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244926" y="1234440"/>
            <a:ext cx="462475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6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 Stack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4244926" y="1591056"/>
            <a:ext cx="4624754" cy="548640"/>
          </a:xfrm>
          <a:prstGeom prst="rect">
            <a:avLst/>
          </a:prstGeom>
          <a:solidFill>
            <a:srgbClr val="111116"/>
          </a:solidFill>
          <a:ln w="3810">
            <a:solidFill>
              <a:srgbClr val="222228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244926" y="1591056"/>
            <a:ext cx="36576" cy="548640"/>
          </a:xfrm>
          <a:prstGeom prst="rect">
            <a:avLst/>
          </a:prstGeom>
          <a:solidFill>
            <a:srgbClr val="B47AFF"/>
          </a:solidFill>
          <a:ln w="12700">
            <a:solidFill>
              <a:srgbClr val="B47AFF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391230" y="1664208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E6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Frontend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5360494" y="1682496"/>
            <a:ext cx="341774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· Dart · Riverpod · GoRouter · Dio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4244926" y="2212848"/>
            <a:ext cx="4624754" cy="548640"/>
          </a:xfrm>
          <a:prstGeom prst="rect">
            <a:avLst/>
          </a:prstGeom>
          <a:solidFill>
            <a:srgbClr val="111116"/>
          </a:solidFill>
          <a:ln w="3810">
            <a:solidFill>
              <a:srgbClr val="22222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244926" y="2212848"/>
            <a:ext cx="36576" cy="548640"/>
          </a:xfrm>
          <a:prstGeom prst="rect">
            <a:avLst/>
          </a:prstGeom>
          <a:solidFill>
            <a:srgbClr val="6FE3E1"/>
          </a:solidFill>
          <a:ln w="12700">
            <a:solidFill>
              <a:srgbClr val="6FE3E1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391230" y="2286000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E6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Backend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5360494" y="2304288"/>
            <a:ext cx="341774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FastAPI · SQLAlchemy · Alembic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4244926" y="2834640"/>
            <a:ext cx="4624754" cy="548640"/>
          </a:xfrm>
          <a:prstGeom prst="rect">
            <a:avLst/>
          </a:prstGeom>
          <a:solidFill>
            <a:srgbClr val="111116"/>
          </a:solidFill>
          <a:ln w="3810">
            <a:solidFill>
              <a:srgbClr val="222228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4244926" y="2834640"/>
            <a:ext cx="36576" cy="548640"/>
          </a:xfrm>
          <a:prstGeom prst="rect">
            <a:avLst/>
          </a:prstGeom>
          <a:solidFill>
            <a:srgbClr val="F6C74A"/>
          </a:solidFill>
          <a:ln w="12700">
            <a:solidFill>
              <a:srgbClr val="F6C74A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391230" y="2907792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E6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Database</a:t>
            </a:r>
            <a:endParaRPr lang="en-US" sz="950" dirty="0"/>
          </a:p>
        </p:txBody>
      </p:sp>
      <p:sp>
        <p:nvSpPr>
          <p:cNvPr id="21" name="Text 17"/>
          <p:cNvSpPr/>
          <p:nvPr/>
        </p:nvSpPr>
        <p:spPr>
          <a:xfrm>
            <a:off x="5360494" y="2926080"/>
            <a:ext cx="341774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(Supabase) · Firebase FCM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4244926" y="3456432"/>
            <a:ext cx="4624754" cy="548640"/>
          </a:xfrm>
          <a:prstGeom prst="rect">
            <a:avLst/>
          </a:prstGeom>
          <a:solidFill>
            <a:srgbClr val="111116"/>
          </a:solidFill>
          <a:ln w="3810">
            <a:solidFill>
              <a:srgbClr val="222228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4244926" y="3456432"/>
            <a:ext cx="36576" cy="5486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4391230" y="3529584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E6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/ ML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5360494" y="3547872"/>
            <a:ext cx="341774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 · Big Five/DISC · SHAP · MMR</a:t>
            </a:r>
            <a:endParaRPr lang="en-US" sz="900" dirty="0"/>
          </a:p>
        </p:txBody>
      </p:sp>
      <p:sp>
        <p:nvSpPr>
          <p:cNvPr id="26" name="Shape 22"/>
          <p:cNvSpPr/>
          <p:nvPr/>
        </p:nvSpPr>
        <p:spPr>
          <a:xfrm>
            <a:off x="4244926" y="4078224"/>
            <a:ext cx="4624754" cy="548640"/>
          </a:xfrm>
          <a:prstGeom prst="rect">
            <a:avLst/>
          </a:prstGeom>
          <a:solidFill>
            <a:srgbClr val="111116"/>
          </a:solidFill>
          <a:ln w="3810">
            <a:solidFill>
              <a:srgbClr val="222228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4244926" y="4078224"/>
            <a:ext cx="36576" cy="5486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4391230" y="4151376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E6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DevOps</a:t>
            </a:r>
            <a:endParaRPr lang="en-US" sz="950" dirty="0"/>
          </a:p>
        </p:txBody>
      </p:sp>
      <p:sp>
        <p:nvSpPr>
          <p:cNvPr id="29" name="Text 25"/>
          <p:cNvSpPr/>
          <p:nvPr/>
        </p:nvSpPr>
        <p:spPr>
          <a:xfrm>
            <a:off x="5360494" y="4169664"/>
            <a:ext cx="341774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· Netlify · GitHub · Cron Keep-Alive</a:t>
            </a:r>
            <a:endParaRPr lang="en-US" sz="900" dirty="0"/>
          </a:p>
        </p:txBody>
      </p:sp>
      <p:sp>
        <p:nvSpPr>
          <p:cNvPr id="30" name="Shape 26"/>
          <p:cNvSpPr/>
          <p:nvPr/>
        </p:nvSpPr>
        <p:spPr>
          <a:xfrm>
            <a:off x="4244926" y="4727448"/>
            <a:ext cx="4624754" cy="256032"/>
          </a:xfrm>
          <a:prstGeom prst="rect">
            <a:avLst/>
          </a:prstGeom>
          <a:solidFill>
            <a:srgbClr val="0D2218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4354654" y="4754880"/>
            <a:ext cx="444187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Live APK · Render backend · Supabase DB · Netlify frontend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0" y="-1645920"/>
            <a:ext cx="4023360" cy="4023360"/>
          </a:xfrm>
          <a:prstGeom prst="ellipse">
            <a:avLst/>
          </a:prstGeom>
          <a:solidFill>
            <a:srgbClr val="2A0D55">
              <a:alpha val="15000"/>
            </a:srgbClr>
          </a:solidFill>
          <a:ln w="12700">
            <a:solidFill>
              <a:srgbClr val="2222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058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spc="1400" kern="0" dirty="0">
                <a:solidFill>
                  <a:srgbClr val="E8E6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 Y N A P S E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457200" y="208483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B47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Minds, Build Teams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566160" y="2633472"/>
            <a:ext cx="2011680" cy="20117"/>
          </a:xfrm>
          <a:prstGeom prst="rect">
            <a:avLst/>
          </a:prstGeom>
          <a:solidFill>
            <a:srgbClr val="B47AFF"/>
          </a:solidFill>
          <a:ln w="12700">
            <a:solidFill>
              <a:srgbClr val="B47A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779776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spc="50" kern="0" dirty="0">
                <a:solidFill>
                  <a:srgbClr val="6B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 ·  FastAPI  ·  PostgreSQL  ·  Big Five/DISC  ·  SHAP  ·  MMR  ·  WebSockets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468880" y="3291840"/>
            <a:ext cx="4206240" cy="1554480"/>
          </a:xfrm>
          <a:prstGeom prst="rect">
            <a:avLst/>
          </a:prstGeom>
          <a:solidFill>
            <a:srgbClr val="111116"/>
          </a:solidFill>
          <a:ln w="6350">
            <a:solidFill>
              <a:srgbClr val="22222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468880" y="3291840"/>
            <a:ext cx="4206240" cy="36576"/>
          </a:xfrm>
          <a:prstGeom prst="rect">
            <a:avLst/>
          </a:prstGeom>
          <a:solidFill>
            <a:srgbClr val="B47AFF"/>
          </a:solidFill>
          <a:ln w="12700">
            <a:solidFill>
              <a:srgbClr val="B47A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68880" y="3456432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8E6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Khadija Subhani  ·  BITF22M019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468880" y="393192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8E6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Roumaisa Tanveer  ·  BITF22M033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468880" y="4535424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PUCIT  ·  University of the Punjab  · 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Synapse — FYP Showcase 2026</dc:title>
  <dc:subject>PptxGenJS Presentation</dc:subject>
  <dc:creator>PptxGenJS</dc:creator>
  <cp:lastModifiedBy>PptxGenJS</cp:lastModifiedBy>
  <cp:revision>1</cp:revision>
  <dcterms:created xsi:type="dcterms:W3CDTF">2026-05-23T02:56:15Z</dcterms:created>
  <dcterms:modified xsi:type="dcterms:W3CDTF">2026-05-23T02:56:15Z</dcterms:modified>
</cp:coreProperties>
</file>